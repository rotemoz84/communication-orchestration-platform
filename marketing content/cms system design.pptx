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8" r:id="rId2"/>
    <p:sldId id="256" r:id="rId3"/>
    <p:sldId id="257" r:id="rId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660"/>
  </p:normalViewPr>
  <p:slideViewPr>
    <p:cSldViewPr snapToGrid="0">
      <p:cViewPr varScale="1">
        <p:scale>
          <a:sx n="108" d="100"/>
          <a:sy n="108" d="100"/>
        </p:scale>
        <p:origin x="654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642938-3629-E5EC-B39C-9F7C5364757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36E4E3A-F186-D15C-EC3C-12E871B1267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2B382DB-F1DD-318A-003A-05B1A85A24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7CC974-D0E1-4260-AA23-38B56C71F6B6}" type="datetimeFigureOut">
              <a:rPr lang="en-US" smtClean="0"/>
              <a:t>2/4/2026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CF93426-2F6A-E775-C60B-A68C09419F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042E5CF-99F9-B1ED-991D-8C67B6D18E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760199-1CD9-4D73-9402-AB284C8F0BB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996705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86FC6B-BC0E-B2A6-7201-CAC442FE7B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BE3BB9-5A5F-3839-77F3-774B1070758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592B295-A751-D65B-0E71-04E905FD07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7CC974-D0E1-4260-AA23-38B56C71F6B6}" type="datetimeFigureOut">
              <a:rPr lang="en-US" smtClean="0"/>
              <a:t>2/4/2026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C5F524C-4123-A0D8-417B-D5226C4B47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9A4132-AA23-B6B6-470C-33CBAEB401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760199-1CD9-4D73-9402-AB284C8F0BB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025857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090FD0-E519-090E-0548-0B085E3788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F81DA40-60DB-AAB6-C6FC-8CCD34F41CE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50D0A99-708A-A3D6-A714-D48482FC13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7CC974-D0E1-4260-AA23-38B56C71F6B6}" type="datetimeFigureOut">
              <a:rPr lang="en-US" smtClean="0"/>
              <a:t>2/4/2026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FB0FED7-DB14-8AA2-4090-58AD049348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58B4D26-1261-CDFA-8803-3BDB9C3E4B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760199-1CD9-4D73-9402-AB284C8F0BB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788060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D21E34-7A21-DCE3-642A-40E4024A7B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353D9D-EF82-3DDF-9030-9FEB1255A44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4195185-CD24-3554-94A3-68DCCA69626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4BAD063-7C12-7972-3F6E-5CD63DE13F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7CC974-D0E1-4260-AA23-38B56C71F6B6}" type="datetimeFigureOut">
              <a:rPr lang="en-US" smtClean="0"/>
              <a:t>2/4/2026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E9F0E3F-8579-9F42-8C17-F74AB12E1C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3411BF6-1E85-A0EB-F3BA-793FFC679E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760199-1CD9-4D73-9402-AB284C8F0BB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898524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981CCF-E0BB-CAD0-208C-F0E9C7A103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C1D7859-2FDB-32D9-913C-B8EEFF2B081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4B53228-CBFE-37F4-C663-7C3EC8F09D8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471A0A3-6193-C688-0B34-4024AF109DD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BF9B9AC-2DA8-E998-E1D6-A888E058605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166A923-FBE7-CFBD-F9F9-3D909525DD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7CC974-D0E1-4260-AA23-38B56C71F6B6}" type="datetimeFigureOut">
              <a:rPr lang="en-US" smtClean="0"/>
              <a:t>2/4/2026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54FCB83-3C88-4B73-1F29-8933CDCF76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457EEE5-CECE-EDE1-9685-E38CD74E9F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760199-1CD9-4D73-9402-AB284C8F0BB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214919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EA48D3-4E90-3986-89C2-BBF6F740F4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D82D30A-8100-94AC-CB65-14AAB87E18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7CC974-D0E1-4260-AA23-38B56C71F6B6}" type="datetimeFigureOut">
              <a:rPr lang="en-US" smtClean="0"/>
              <a:t>2/4/2026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CD621A5-79DB-87E5-B65B-FED8B6505F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BCA284F-776A-A181-5557-A2A8637FBF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760199-1CD9-4D73-9402-AB284C8F0BB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655939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3C65CE0-D7B1-49CB-55BC-D2BFC80220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7CC974-D0E1-4260-AA23-38B56C71F6B6}" type="datetimeFigureOut">
              <a:rPr lang="en-US" smtClean="0"/>
              <a:t>2/4/2026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6824A15-5EE5-6C2A-E398-26FE10AA5B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B129E65-C67B-5618-03D3-4D2E0749B3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760199-1CD9-4D73-9402-AB284C8F0BB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42580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A98A5A-13E5-80F5-2449-CFF8530474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50475E-C339-9E9A-2686-B56F33191B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5E5693F-6F9E-0560-D2A0-BA181974CC7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369F16F-E2E8-6DC8-8C4C-C14D065D55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7CC974-D0E1-4260-AA23-38B56C71F6B6}" type="datetimeFigureOut">
              <a:rPr lang="en-US" smtClean="0"/>
              <a:t>2/4/2026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201E6E7-26B6-3930-ACD0-1184B40A5E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6958D7C-7E24-95A1-D0C3-C59E865E15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760199-1CD9-4D73-9402-AB284C8F0BB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508613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BB81E8-4A8F-C2C9-1161-B395B2FF7C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6302765-5B5F-1801-386D-447CD440EFB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6F02D97-8C99-F22C-8D28-4F78A6D28D4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4D470A5-999D-B893-A867-CFB6A12565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7CC974-D0E1-4260-AA23-38B56C71F6B6}" type="datetimeFigureOut">
              <a:rPr lang="en-US" smtClean="0"/>
              <a:t>2/4/2026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6F3EC42-B637-8DF0-1A67-386FFCFB44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C2D193E-E5A8-BD61-CB1F-9CB1576806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760199-1CD9-4D73-9402-AB284C8F0BB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527681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4182E3-D1E6-5604-9CB7-C0EF4D85A6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9BC6C64-8288-0EE4-CA01-C9E6C2F83D6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C58B707-E9A4-DBED-9B3B-CBFF3A9D66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7CC974-D0E1-4260-AA23-38B56C71F6B6}" type="datetimeFigureOut">
              <a:rPr lang="en-US" smtClean="0"/>
              <a:t>2/4/2026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66B640E-C2DA-06AE-68AB-6950ACADD5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D511FDF-F9BF-20FD-A5EA-93C8F9FB99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760199-1CD9-4D73-9402-AB284C8F0BB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284360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95E3020-8446-8F88-25D9-CDFD910DE34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4EE0CC4-4B54-C9C1-523C-0C4F16D6078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6D07CAD-24A1-FAF0-E59C-FBBA6F50DA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7CC974-D0E1-4260-AA23-38B56C71F6B6}" type="datetimeFigureOut">
              <a:rPr lang="en-US" smtClean="0"/>
              <a:t>2/4/2026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BE45B8F-0165-58BD-20D2-5703CD5D1D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9C2D50C-1D1A-789F-B279-1FC2DA8D04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760199-1CD9-4D73-9402-AB284C8F0BB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640275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5746838-A5A5-32E9-F354-FF48C04D02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D5A4CEF-AD57-0141-D4A1-3FD87BAE4AA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8739999-8060-82B0-B806-4A6130632D8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A7CC974-D0E1-4260-AA23-38B56C71F6B6}" type="datetimeFigureOut">
              <a:rPr lang="en-US" smtClean="0"/>
              <a:t>2/4/2026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D83E9DB-2503-76FD-9348-43919419CB3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BEFE771-A744-668E-36E8-064E79B1040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F760199-1CD9-4D73-9402-AB284C8F0BB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727786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ABE2838A-DFC1-5B0F-61D3-67350384DC4C}"/>
              </a:ext>
            </a:extLst>
          </p:cNvPr>
          <p:cNvSpPr/>
          <p:nvPr/>
        </p:nvSpPr>
        <p:spPr>
          <a:xfrm>
            <a:off x="4033485" y="79933"/>
            <a:ext cx="3689277" cy="70133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Customer management system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C2FA933-9CD9-7A41-D1DD-D3F95A0D73F4}"/>
              </a:ext>
            </a:extLst>
          </p:cNvPr>
          <p:cNvSpPr/>
          <p:nvPr/>
        </p:nvSpPr>
        <p:spPr>
          <a:xfrm>
            <a:off x="1349747" y="1327355"/>
            <a:ext cx="3005945" cy="53049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inquiry logger (not editable)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19E317B-62F6-3B93-B24B-29C9CA1D8EB3}"/>
              </a:ext>
            </a:extLst>
          </p:cNvPr>
          <p:cNvSpPr/>
          <p:nvPr/>
        </p:nvSpPr>
        <p:spPr>
          <a:xfrm>
            <a:off x="2764669" y="3237865"/>
            <a:ext cx="4805573" cy="37484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Customer handling, funnel and contact details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D372D38-680C-84B0-B915-4487028023D8}"/>
              </a:ext>
            </a:extLst>
          </p:cNvPr>
          <p:cNvSpPr/>
          <p:nvPr/>
        </p:nvSpPr>
        <p:spPr>
          <a:xfrm>
            <a:off x="4609149" y="1479755"/>
            <a:ext cx="3689277" cy="128311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Log all leads: phone calls, messages and site requests.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Try to assess potential clients automatically (according to their need and other past information we have on them.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Sort leads based on urgency and potential to become a client. 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F11CD5D-9334-15C8-1131-EED7D8D7C20F}"/>
              </a:ext>
            </a:extLst>
          </p:cNvPr>
          <p:cNvSpPr/>
          <p:nvPr/>
        </p:nvSpPr>
        <p:spPr>
          <a:xfrm>
            <a:off x="4609149" y="3746094"/>
            <a:ext cx="3689277" cy="213359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Handle each customer with care. Save their contact details, and other important people close to them, like partner or parents.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Save status of the funnel process: where are they on the path to become a client, what are they missing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Who has the ball in making the call before we try again? Reminders about when should we call somebody – either since we promised, or we gave them time to think, or we want to offer a product according to their pregnancy week !</a:t>
            </a:r>
          </a:p>
        </p:txBody>
      </p:sp>
    </p:spTree>
    <p:extLst>
      <p:ext uri="{BB962C8B-B14F-4D97-AF65-F5344CB8AC3E}">
        <p14:creationId xmlns:p14="http://schemas.microsoft.com/office/powerpoint/2010/main" val="58183983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2738A206-4A9F-6822-4F57-7FC138B78E4A}"/>
              </a:ext>
            </a:extLst>
          </p:cNvPr>
          <p:cNvSpPr/>
          <p:nvPr/>
        </p:nvSpPr>
        <p:spPr>
          <a:xfrm>
            <a:off x="3327261" y="1740023"/>
            <a:ext cx="1518082" cy="479394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Caller name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AAA2B91-7889-622C-0453-1F15D5F250D5}"/>
              </a:ext>
            </a:extLst>
          </p:cNvPr>
          <p:cNvSpPr/>
          <p:nvPr/>
        </p:nvSpPr>
        <p:spPr>
          <a:xfrm>
            <a:off x="5011042" y="1736949"/>
            <a:ext cx="1518082" cy="49926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Caller number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73453E0-2217-F43A-E72D-98380FBF9DEB}"/>
              </a:ext>
            </a:extLst>
          </p:cNvPr>
          <p:cNvSpPr/>
          <p:nvPr/>
        </p:nvSpPr>
        <p:spPr>
          <a:xfrm>
            <a:off x="1686904" y="1744496"/>
            <a:ext cx="1518082" cy="49926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Date and time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49AD0B7-E620-A81E-490F-A73E990D51BD}"/>
              </a:ext>
            </a:extLst>
          </p:cNvPr>
          <p:cNvSpPr/>
          <p:nvPr/>
        </p:nvSpPr>
        <p:spPr>
          <a:xfrm>
            <a:off x="101049" y="963560"/>
            <a:ext cx="14440451" cy="48133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inquiry logger (not editable)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A337C55-663E-6B55-68FF-7B1BBB340AD6}"/>
              </a:ext>
            </a:extLst>
          </p:cNvPr>
          <p:cNvSpPr/>
          <p:nvPr/>
        </p:nvSpPr>
        <p:spPr>
          <a:xfrm>
            <a:off x="6675368" y="1744496"/>
            <a:ext cx="1518082" cy="49926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Caller email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4122258-F1D6-415B-6460-D72B3C31307A}"/>
              </a:ext>
            </a:extLst>
          </p:cNvPr>
          <p:cNvSpPr/>
          <p:nvPr/>
        </p:nvSpPr>
        <p:spPr>
          <a:xfrm>
            <a:off x="8294434" y="1742990"/>
            <a:ext cx="1518082" cy="49926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Handle status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76B8461-07A8-F44C-28B8-185DC019187D}"/>
              </a:ext>
            </a:extLst>
          </p:cNvPr>
          <p:cNvSpPr/>
          <p:nvPr/>
        </p:nvSpPr>
        <p:spPr>
          <a:xfrm>
            <a:off x="8301977" y="2366170"/>
            <a:ext cx="1518082" cy="49926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Call answered 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799EC7D-6EC2-6C81-3F61-6E6A18DB8454}"/>
              </a:ext>
            </a:extLst>
          </p:cNvPr>
          <p:cNvSpPr/>
          <p:nvPr/>
        </p:nvSpPr>
        <p:spPr>
          <a:xfrm>
            <a:off x="8309524" y="3025566"/>
            <a:ext cx="1518082" cy="49926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Call unanswered 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EA22017-6CA7-5ECA-0882-BF9FADCEE9A8}"/>
              </a:ext>
            </a:extLst>
          </p:cNvPr>
          <p:cNvSpPr/>
          <p:nvPr/>
        </p:nvSpPr>
        <p:spPr>
          <a:xfrm>
            <a:off x="8317070" y="3630636"/>
            <a:ext cx="1518082" cy="49926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Call unanswered 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69C9EA75-1391-9AE5-F71F-6C052585CF3A}"/>
              </a:ext>
            </a:extLst>
          </p:cNvPr>
          <p:cNvSpPr/>
          <p:nvPr/>
        </p:nvSpPr>
        <p:spPr>
          <a:xfrm>
            <a:off x="9909488" y="1762030"/>
            <a:ext cx="1518082" cy="479394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Request 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4E4BC7DD-125A-5142-578F-5A93A485E333}"/>
              </a:ext>
            </a:extLst>
          </p:cNvPr>
          <p:cNvSpPr/>
          <p:nvPr/>
        </p:nvSpPr>
        <p:spPr>
          <a:xfrm>
            <a:off x="11528546" y="1760520"/>
            <a:ext cx="1518082" cy="479394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Pregnancy week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976056A5-AE1F-A397-D4B8-B444F70C3C3B}"/>
              </a:ext>
            </a:extLst>
          </p:cNvPr>
          <p:cNvSpPr/>
          <p:nvPr/>
        </p:nvSpPr>
        <p:spPr>
          <a:xfrm>
            <a:off x="101049" y="1733936"/>
            <a:ext cx="1518082" cy="49926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Called through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676823D8-DF49-6851-A352-91B261245943}"/>
              </a:ext>
            </a:extLst>
          </p:cNvPr>
          <p:cNvSpPr/>
          <p:nvPr/>
        </p:nvSpPr>
        <p:spPr>
          <a:xfrm>
            <a:off x="90492" y="2348071"/>
            <a:ext cx="1518082" cy="49926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Site 0486801552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4E2D1C20-B220-DE45-DD0F-00C6BA586505}"/>
              </a:ext>
            </a:extLst>
          </p:cNvPr>
          <p:cNvSpPr/>
          <p:nvPr/>
        </p:nvSpPr>
        <p:spPr>
          <a:xfrm>
            <a:off x="79935" y="2962206"/>
            <a:ext cx="1518082" cy="49926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Phone 046801552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30C9347E-7F7B-A2EE-7E88-12B3111A3BA7}"/>
              </a:ext>
            </a:extLst>
          </p:cNvPr>
          <p:cNvSpPr/>
          <p:nvPr/>
        </p:nvSpPr>
        <p:spPr>
          <a:xfrm>
            <a:off x="78429" y="3531062"/>
            <a:ext cx="1518082" cy="49926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Cellphone 0509996171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D960599A-1194-28E1-C7B2-C7C8819064D5}"/>
              </a:ext>
            </a:extLst>
          </p:cNvPr>
          <p:cNvSpPr/>
          <p:nvPr/>
        </p:nvSpPr>
        <p:spPr>
          <a:xfrm>
            <a:off x="85973" y="4108975"/>
            <a:ext cx="1518082" cy="49926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Site contact form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0D993772-A628-DA8C-8537-1CE9EA709C94}"/>
              </a:ext>
            </a:extLst>
          </p:cNvPr>
          <p:cNvSpPr/>
          <p:nvPr/>
        </p:nvSpPr>
        <p:spPr>
          <a:xfrm>
            <a:off x="85971" y="4688394"/>
            <a:ext cx="1518082" cy="49926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Whatsapp</a:t>
            </a:r>
            <a:r>
              <a:rPr lang="en-US" dirty="0"/>
              <a:t> message 0509996171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128B86A8-FF50-483E-1DAD-2AB1AD908FEE}"/>
              </a:ext>
            </a:extLst>
          </p:cNvPr>
          <p:cNvSpPr/>
          <p:nvPr/>
        </p:nvSpPr>
        <p:spPr>
          <a:xfrm>
            <a:off x="89078" y="5325986"/>
            <a:ext cx="1518082" cy="49926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Site </a:t>
            </a:r>
            <a:r>
              <a:rPr lang="en-US" dirty="0" err="1"/>
              <a:t>Whatsapp</a:t>
            </a:r>
            <a:r>
              <a:rPr lang="en-US" dirty="0"/>
              <a:t> 0509996171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8113C01C-B43B-B0A4-09E4-540F1A1452A3}"/>
              </a:ext>
            </a:extLst>
          </p:cNvPr>
          <p:cNvSpPr/>
          <p:nvPr/>
        </p:nvSpPr>
        <p:spPr>
          <a:xfrm>
            <a:off x="13124844" y="1764758"/>
            <a:ext cx="1518082" cy="49926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Is potential customer?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F41E6DC2-D25C-D1B6-6870-9F4D2553C340}"/>
              </a:ext>
            </a:extLst>
          </p:cNvPr>
          <p:cNvSpPr/>
          <p:nvPr/>
        </p:nvSpPr>
        <p:spPr>
          <a:xfrm>
            <a:off x="14648844" y="2310858"/>
            <a:ext cx="1518082" cy="499260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Handle customer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B52DAE9E-94F3-93AC-B16D-8EAE3C3B3D65}"/>
              </a:ext>
            </a:extLst>
          </p:cNvPr>
          <p:cNvSpPr/>
          <p:nvPr/>
        </p:nvSpPr>
        <p:spPr>
          <a:xfrm>
            <a:off x="14648844" y="2882358"/>
            <a:ext cx="1518082" cy="499260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Handle customer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4036D5DA-87B7-C911-A0AD-CC7FCE7FE43F}"/>
              </a:ext>
            </a:extLst>
          </p:cNvPr>
          <p:cNvSpPr/>
          <p:nvPr/>
        </p:nvSpPr>
        <p:spPr>
          <a:xfrm>
            <a:off x="14648844" y="3453858"/>
            <a:ext cx="1518082" cy="499260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Handle customer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987278E6-B9D2-FA96-D392-6D90270B881E}"/>
              </a:ext>
            </a:extLst>
          </p:cNvPr>
          <p:cNvSpPr/>
          <p:nvPr/>
        </p:nvSpPr>
        <p:spPr>
          <a:xfrm>
            <a:off x="21153" y="40882"/>
            <a:ext cx="1984628" cy="172182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Ability to sort and filter 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46996598-1921-982C-8CBD-1ABA91AF377D}"/>
              </a:ext>
            </a:extLst>
          </p:cNvPr>
          <p:cNvSpPr/>
          <p:nvPr/>
        </p:nvSpPr>
        <p:spPr>
          <a:xfrm>
            <a:off x="793500" y="1055126"/>
            <a:ext cx="1518082" cy="499260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Last 24 hours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184F01FC-E2B8-6516-0B98-2D3C98DF6E5E}"/>
              </a:ext>
            </a:extLst>
          </p:cNvPr>
          <p:cNvSpPr/>
          <p:nvPr/>
        </p:nvSpPr>
        <p:spPr>
          <a:xfrm>
            <a:off x="2381412" y="1040373"/>
            <a:ext cx="1518082" cy="499260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Since last visit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B14DCE33-662E-D606-E6A2-851D78AD6D4F}"/>
              </a:ext>
            </a:extLst>
          </p:cNvPr>
          <p:cNvSpPr/>
          <p:nvPr/>
        </p:nvSpPr>
        <p:spPr>
          <a:xfrm>
            <a:off x="3969324" y="1025620"/>
            <a:ext cx="1518082" cy="499260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Since last work day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9687A4A0-4647-19A8-9B17-F02AFCCA38E7}"/>
              </a:ext>
            </a:extLst>
          </p:cNvPr>
          <p:cNvSpPr/>
          <p:nvPr/>
        </p:nvSpPr>
        <p:spPr>
          <a:xfrm>
            <a:off x="6405" y="262109"/>
            <a:ext cx="1984628" cy="172182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Button of action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002C1F44-0196-325E-A5BA-69CBE00FF371}"/>
              </a:ext>
            </a:extLst>
          </p:cNvPr>
          <p:cNvSpPr/>
          <p:nvPr/>
        </p:nvSpPr>
        <p:spPr>
          <a:xfrm>
            <a:off x="-8344" y="473501"/>
            <a:ext cx="1984628" cy="17218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Title 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03156F32-3B92-8239-1773-4DC6D46531CD}"/>
              </a:ext>
            </a:extLst>
          </p:cNvPr>
          <p:cNvSpPr/>
          <p:nvPr/>
        </p:nvSpPr>
        <p:spPr>
          <a:xfrm>
            <a:off x="-23093" y="684893"/>
            <a:ext cx="1984628" cy="17218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Data field</a:t>
            </a:r>
          </a:p>
        </p:txBody>
      </p:sp>
    </p:spTree>
    <p:extLst>
      <p:ext uri="{BB962C8B-B14F-4D97-AF65-F5344CB8AC3E}">
        <p14:creationId xmlns:p14="http://schemas.microsoft.com/office/powerpoint/2010/main" val="180288304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397ECB92-FD80-3282-0CED-E58A95400A26}"/>
              </a:ext>
            </a:extLst>
          </p:cNvPr>
          <p:cNvSpPr/>
          <p:nvPr/>
        </p:nvSpPr>
        <p:spPr>
          <a:xfrm>
            <a:off x="272188" y="4934468"/>
            <a:ext cx="11767406" cy="49926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Inquiry funnel process (editable)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B4757A9C-5225-B727-002B-120BACFB930F}"/>
              </a:ext>
            </a:extLst>
          </p:cNvPr>
          <p:cNvSpPr/>
          <p:nvPr/>
        </p:nvSpPr>
        <p:spPr>
          <a:xfrm>
            <a:off x="8813705" y="824981"/>
            <a:ext cx="1518082" cy="47939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Name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609A29FA-85C1-64E0-763B-B473F7F00156}"/>
              </a:ext>
            </a:extLst>
          </p:cNvPr>
          <p:cNvSpPr/>
          <p:nvPr/>
        </p:nvSpPr>
        <p:spPr>
          <a:xfrm>
            <a:off x="8794677" y="1368007"/>
            <a:ext cx="1518082" cy="49926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Phone number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D0C30E39-1575-BCE6-5BD5-F56EF4E88B9B}"/>
              </a:ext>
            </a:extLst>
          </p:cNvPr>
          <p:cNvSpPr/>
          <p:nvPr/>
        </p:nvSpPr>
        <p:spPr>
          <a:xfrm>
            <a:off x="239148" y="3483754"/>
            <a:ext cx="1518082" cy="49926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Date and time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B356EBED-19F2-D939-05A7-4B19CB9A1BE9}"/>
              </a:ext>
            </a:extLst>
          </p:cNvPr>
          <p:cNvSpPr/>
          <p:nvPr/>
        </p:nvSpPr>
        <p:spPr>
          <a:xfrm>
            <a:off x="10459003" y="1375554"/>
            <a:ext cx="1518082" cy="49926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Email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58BC5FE9-5BF0-1855-850A-4C465EBE9DC2}"/>
              </a:ext>
            </a:extLst>
          </p:cNvPr>
          <p:cNvSpPr/>
          <p:nvPr/>
        </p:nvSpPr>
        <p:spPr>
          <a:xfrm>
            <a:off x="264333" y="696305"/>
            <a:ext cx="4642711" cy="128474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Current request and actual need</a:t>
            </a:r>
          </a:p>
          <a:p>
            <a:pPr algn="ctr"/>
            <a:r>
              <a:rPr lang="en-US" dirty="0"/>
              <a:t>(keeps history of edits on this field)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AFBD7FAD-D358-DD73-599C-55DD7E00271F}"/>
              </a:ext>
            </a:extLst>
          </p:cNvPr>
          <p:cNvSpPr/>
          <p:nvPr/>
        </p:nvSpPr>
        <p:spPr>
          <a:xfrm>
            <a:off x="5433361" y="801972"/>
            <a:ext cx="1518082" cy="47939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Pregnancy week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9246939-3323-8B1B-7560-83BCB5425976}"/>
              </a:ext>
            </a:extLst>
          </p:cNvPr>
          <p:cNvSpPr/>
          <p:nvPr/>
        </p:nvSpPr>
        <p:spPr>
          <a:xfrm>
            <a:off x="203364" y="3054152"/>
            <a:ext cx="4805573" cy="37484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History call log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EFE9C9C-2B4C-222E-C275-E82EE893BB5B}"/>
              </a:ext>
            </a:extLst>
          </p:cNvPr>
          <p:cNvSpPr/>
          <p:nvPr/>
        </p:nvSpPr>
        <p:spPr>
          <a:xfrm>
            <a:off x="8794677" y="206382"/>
            <a:ext cx="3219524" cy="479394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Customer contact details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ED8AC8C-A795-44AF-EA94-9CFE1C85992A}"/>
              </a:ext>
            </a:extLst>
          </p:cNvPr>
          <p:cNvSpPr/>
          <p:nvPr/>
        </p:nvSpPr>
        <p:spPr>
          <a:xfrm>
            <a:off x="10439305" y="837681"/>
            <a:ext cx="1518082" cy="47939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Address 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2142D96-224E-FD51-ADB1-70C049D794DD}"/>
              </a:ext>
            </a:extLst>
          </p:cNvPr>
          <p:cNvSpPr/>
          <p:nvPr/>
        </p:nvSpPr>
        <p:spPr>
          <a:xfrm>
            <a:off x="8769277" y="2085982"/>
            <a:ext cx="3219524" cy="888564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Add partner details (ability to add several like partner, parents </a:t>
            </a:r>
            <a:r>
              <a:rPr lang="en-US" dirty="0" err="1"/>
              <a:t>etc</a:t>
            </a:r>
            <a:r>
              <a:rPr lang="en-US" dirty="0"/>
              <a:t>)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FE7E002-2303-B2DC-FADC-DA3400A04B52}"/>
              </a:ext>
            </a:extLst>
          </p:cNvPr>
          <p:cNvSpPr/>
          <p:nvPr/>
        </p:nvSpPr>
        <p:spPr>
          <a:xfrm>
            <a:off x="1826648" y="3496454"/>
            <a:ext cx="1518082" cy="49926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Mode of contact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AAB7B03-1B7B-AC65-BF0C-EAF825EEE8ED}"/>
              </a:ext>
            </a:extLst>
          </p:cNvPr>
          <p:cNvSpPr/>
          <p:nvPr/>
        </p:nvSpPr>
        <p:spPr>
          <a:xfrm>
            <a:off x="3439548" y="3509154"/>
            <a:ext cx="1518082" cy="49926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Handle status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2C5B351-0B5D-DF92-032B-107419CEC504}"/>
              </a:ext>
            </a:extLst>
          </p:cNvPr>
          <p:cNvSpPr/>
          <p:nvPr/>
        </p:nvSpPr>
        <p:spPr>
          <a:xfrm>
            <a:off x="5416477" y="219082"/>
            <a:ext cx="3219524" cy="479394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Customer health treatments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EDFD31D-482E-9CCD-DD8A-44CF9674C563}"/>
              </a:ext>
            </a:extLst>
          </p:cNvPr>
          <p:cNvSpPr/>
          <p:nvPr/>
        </p:nvSpPr>
        <p:spPr>
          <a:xfrm>
            <a:off x="5433361" y="1424272"/>
            <a:ext cx="1518082" cy="47939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</a:t>
            </a:r>
            <a:r>
              <a:rPr lang="en-US" baseline="30000" dirty="0"/>
              <a:t>st</a:t>
            </a:r>
            <a:r>
              <a:rPr lang="en-US" dirty="0"/>
              <a:t> scan 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6E944E7-A35A-7AFA-9A16-E16875700A63}"/>
              </a:ext>
            </a:extLst>
          </p:cNvPr>
          <p:cNvSpPr/>
          <p:nvPr/>
        </p:nvSpPr>
        <p:spPr>
          <a:xfrm>
            <a:off x="7147861" y="814672"/>
            <a:ext cx="1518082" cy="47939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Previous children 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F61A99D-A99C-AD4A-23E4-2B27D5F424DC}"/>
              </a:ext>
            </a:extLst>
          </p:cNvPr>
          <p:cNvSpPr/>
          <p:nvPr/>
        </p:nvSpPr>
        <p:spPr>
          <a:xfrm>
            <a:off x="2920180" y="6247693"/>
            <a:ext cx="1425677" cy="49926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dirty="0"/>
              <a:t>IS POTENTIAL CUSTOMER !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CF3FB685-936C-D1A1-7AAC-C15B7BDF2356}"/>
              </a:ext>
            </a:extLst>
          </p:cNvPr>
          <p:cNvSpPr/>
          <p:nvPr/>
        </p:nvSpPr>
        <p:spPr>
          <a:xfrm>
            <a:off x="391548" y="5464956"/>
            <a:ext cx="1518082" cy="73837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First call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E1E74CD4-7DEB-DBA9-7F47-80E73489350A}"/>
              </a:ext>
            </a:extLst>
          </p:cNvPr>
          <p:cNvSpPr/>
          <p:nvPr/>
        </p:nvSpPr>
        <p:spPr>
          <a:xfrm>
            <a:off x="2047874" y="5467824"/>
            <a:ext cx="1518082" cy="73837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Has a need that clinic can provide?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BA18512-F94E-194F-2861-6C1E855186BC}"/>
              </a:ext>
            </a:extLst>
          </p:cNvPr>
          <p:cNvSpPr/>
          <p:nvPr/>
        </p:nvSpPr>
        <p:spPr>
          <a:xfrm>
            <a:off x="5233941" y="5480524"/>
            <a:ext cx="1518082" cy="73837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Understand pricing advantage?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209DC52B-9D9E-4088-1093-7308F33E4D51}"/>
              </a:ext>
            </a:extLst>
          </p:cNvPr>
          <p:cNvSpPr/>
          <p:nvPr/>
        </p:nvSpPr>
        <p:spPr>
          <a:xfrm>
            <a:off x="3616531" y="5475609"/>
            <a:ext cx="1518082" cy="73837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Is familiar with the doctor?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3CC6D29B-D27A-505E-0D66-319859288E65}"/>
              </a:ext>
            </a:extLst>
          </p:cNvPr>
          <p:cNvSpPr/>
          <p:nvPr/>
        </p:nvSpPr>
        <p:spPr>
          <a:xfrm>
            <a:off x="6841516" y="5485441"/>
            <a:ext cx="1518082" cy="73837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Booked a session?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8F86F083-2BE5-8D91-AB72-1ABF28992AA6}"/>
              </a:ext>
            </a:extLst>
          </p:cNvPr>
          <p:cNvSpPr/>
          <p:nvPr/>
        </p:nvSpPr>
        <p:spPr>
          <a:xfrm>
            <a:off x="8449091" y="5490358"/>
            <a:ext cx="1518082" cy="73837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Booked a call with doctor?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750FA31C-D67C-8191-D942-F65DA1F0EBC1}"/>
              </a:ext>
            </a:extLst>
          </p:cNvPr>
          <p:cNvSpPr/>
          <p:nvPr/>
        </p:nvSpPr>
        <p:spPr>
          <a:xfrm>
            <a:off x="10056665" y="5489992"/>
            <a:ext cx="1900721" cy="80580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Return to them with a call on the next potential event according to pregnancy week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44D5B375-A43E-2769-4121-6F82AE965534}"/>
              </a:ext>
            </a:extLst>
          </p:cNvPr>
          <p:cNvSpPr/>
          <p:nvPr/>
        </p:nvSpPr>
        <p:spPr>
          <a:xfrm>
            <a:off x="178783" y="266703"/>
            <a:ext cx="4805573" cy="37484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Customer request history</a:t>
            </a:r>
          </a:p>
        </p:txBody>
      </p:sp>
      <p:sp>
        <p:nvSpPr>
          <p:cNvPr id="2" name="Arrow: Right 1">
            <a:extLst>
              <a:ext uri="{FF2B5EF4-FFF2-40B4-BE49-F238E27FC236}">
                <a16:creationId xmlns:a16="http://schemas.microsoft.com/office/drawing/2014/main" id="{10E1E7C2-65BB-C1FC-871F-A62C3D99B947}"/>
              </a:ext>
            </a:extLst>
          </p:cNvPr>
          <p:cNvSpPr/>
          <p:nvPr/>
        </p:nvSpPr>
        <p:spPr>
          <a:xfrm>
            <a:off x="4613287" y="4635227"/>
            <a:ext cx="3293615" cy="484632"/>
          </a:xfrm>
          <a:prstGeom prst="rightArrow">
            <a:avLst/>
          </a:prstGeom>
          <a:solidFill>
            <a:schemeClr val="accent2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5305559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79</TotalTime>
  <Words>341</Words>
  <Application>Microsoft Office PowerPoint</Application>
  <PresentationFormat>Widescreen</PresentationFormat>
  <Paragraphs>64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Oz, Shachar</dc:creator>
  <cp:lastModifiedBy>Oz, Shachar</cp:lastModifiedBy>
  <cp:revision>4</cp:revision>
  <dcterms:created xsi:type="dcterms:W3CDTF">2026-02-03T19:04:10Z</dcterms:created>
  <dcterms:modified xsi:type="dcterms:W3CDTF">2026-02-04T22:15:12Z</dcterms:modified>
</cp:coreProperties>
</file>